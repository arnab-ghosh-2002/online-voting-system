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5" r:id="rId2"/>
    <p:sldId id="328" r:id="rId3"/>
    <p:sldId id="310" r:id="rId4"/>
    <p:sldId id="314" r:id="rId5"/>
    <p:sldId id="315" r:id="rId6"/>
    <p:sldId id="318" r:id="rId7"/>
    <p:sldId id="317" r:id="rId8"/>
    <p:sldId id="316" r:id="rId9"/>
    <p:sldId id="320" r:id="rId10"/>
    <p:sldId id="321" r:id="rId11"/>
    <p:sldId id="322" r:id="rId12"/>
    <p:sldId id="319" r:id="rId13"/>
    <p:sldId id="311" r:id="rId14"/>
    <p:sldId id="323" r:id="rId15"/>
    <p:sldId id="324" r:id="rId16"/>
    <p:sldId id="325" r:id="rId17"/>
    <p:sldId id="326" r:id="rId18"/>
    <p:sldId id="327" r:id="rId19"/>
    <p:sldId id="329" r:id="rId20"/>
  </p:sldIdLst>
  <p:sldSz cx="12188825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29" autoAdjust="0"/>
  </p:normalViewPr>
  <p:slideViewPr>
    <p:cSldViewPr showGuides="1">
      <p:cViewPr varScale="1">
        <p:scale>
          <a:sx n="76" d="100"/>
          <a:sy n="76" d="100"/>
        </p:scale>
        <p:origin x="58" y="533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11/25/2024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11/25/2024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11/25/2024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11/25/2024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Online Voting System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For conducting polls and surveys that can handle concurrent votes and stores voting results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3" y="2209800"/>
            <a:ext cx="4114799" cy="4114801"/>
          </a:xfrm>
        </p:spPr>
        <p:txBody>
          <a:bodyPr/>
          <a:lstStyle/>
          <a:p>
            <a:r>
              <a:rPr lang="en-US" dirty="0"/>
              <a:t>Arnab Ghosh   2322019042</a:t>
            </a:r>
          </a:p>
          <a:p>
            <a:r>
              <a:rPr lang="en-US" dirty="0"/>
              <a:t>Fardin Ahmed 2323806642</a:t>
            </a:r>
          </a:p>
        </p:txBody>
      </p:sp>
    </p:spTree>
    <p:extLst>
      <p:ext uri="{BB962C8B-B14F-4D97-AF65-F5344CB8AC3E}">
        <p14:creationId xmlns:p14="http://schemas.microsoft.com/office/powerpoint/2010/main" val="15923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</p:spPr>
        <p:txBody>
          <a:bodyPr/>
          <a:lstStyle/>
          <a:p>
            <a:r>
              <a:rPr lang="en-US" dirty="0"/>
              <a:t>Content Layout with 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Functionality of the each Classes</a:t>
            </a:r>
          </a:p>
          <a:p>
            <a:r>
              <a:rPr lang="en-US" dirty="0"/>
              <a:t>Technicalities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Describing online voting System</a:t>
            </a: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Voting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060E3-6251-4ACE-87FC-EE0D8597F368}"/>
              </a:ext>
            </a:extLst>
          </p:cNvPr>
          <p:cNvSpPr txBox="1"/>
          <p:nvPr/>
        </p:nvSpPr>
        <p:spPr>
          <a:xfrm>
            <a:off x="1598612" y="2133600"/>
            <a:ext cx="9982200" cy="367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online voting system is a multi-threaded application designed to facilitate secure and efficient voting processes for both polls and surveys. It allows users to cast votes concurrently, simulating real-time voting scenarios. The system supports two type of voting:</a:t>
            </a:r>
          </a:p>
          <a:p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/>
              <a:t>Polls: Fixed options ( strongly agree, agree, </a:t>
            </a:r>
            <a:r>
              <a:rPr lang="en-US" sz="2800" dirty="0" err="1"/>
              <a:t>etc</a:t>
            </a:r>
            <a:r>
              <a:rPr lang="en-US" sz="2800" dirty="0"/>
              <a:t>)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sz="2800" dirty="0"/>
              <a:t>Surveys: Customizable options, including open-ended responses for additional suggestions</a:t>
            </a:r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 of Each Classes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Describing the classes: voting, polls, surveys, vote thread and main class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AF0FCB-D67C-4536-B4A8-E51715A26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12" y="685800"/>
            <a:ext cx="6324599" cy="5253642"/>
          </a:xfrm>
        </p:spPr>
      </p:pic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01B045-0A10-4DA3-831F-852C8A1F16D0}"/>
              </a:ext>
            </a:extLst>
          </p:cNvPr>
          <p:cNvSpPr txBox="1"/>
          <p:nvPr/>
        </p:nvSpPr>
        <p:spPr>
          <a:xfrm>
            <a:off x="1522412" y="914400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Functionalities of  Voting class: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EF7638F-6B5B-4159-A997-E5D6D204D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669916"/>
              </p:ext>
            </p:extLst>
          </p:nvPr>
        </p:nvGraphicFramePr>
        <p:xfrm>
          <a:off x="1598612" y="1981200"/>
          <a:ext cx="9296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54093188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42314692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Functionalities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828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Storing the question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Stores the voting question in “question” for both polls and surveys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0382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Tracking total votes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Tracks the total number of votes cast in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totalvotes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9429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Abstract Methods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Ensures all subclasses implement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castVotes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” and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displayResults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57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File Saving 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SaveToFile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Provides a reusable, thread-safe way to save voting data to files persistently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83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C9A3B-A889-4A21-9CF0-DEF00FC76AFC}"/>
              </a:ext>
            </a:extLst>
          </p:cNvPr>
          <p:cNvSpPr txBox="1"/>
          <p:nvPr/>
        </p:nvSpPr>
        <p:spPr>
          <a:xfrm>
            <a:off x="1522412" y="914400"/>
            <a:ext cx="624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Functionalities of  Polls class (Subclass of  Voting):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84887E8-6057-424F-80E4-F89AF606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16978"/>
              </p:ext>
            </p:extLst>
          </p:nvPr>
        </p:nvGraphicFramePr>
        <p:xfrm>
          <a:off x="1674812" y="2438400"/>
          <a:ext cx="9296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54093188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42314692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Functionalities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828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Fixed Options 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Supports voting on four fixed options “a”, “b”, “c” and “d”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0382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Tracks Individual Votes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Maintains counters 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a_votes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b_votes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c_votes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d_votes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 for each option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9429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castVotes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Handles vote casting and updates the respective counters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57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displayResults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Outputs poll results for all options and the total votes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83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C9A3B-A889-4A21-9CF0-DEF00FC76AFC}"/>
              </a:ext>
            </a:extLst>
          </p:cNvPr>
          <p:cNvSpPr txBox="1"/>
          <p:nvPr/>
        </p:nvSpPr>
        <p:spPr>
          <a:xfrm>
            <a:off x="1598612" y="838200"/>
            <a:ext cx="624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Functionalities of  Surveys class (Subclass of  Voting):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84887E8-6057-424F-80E4-F89AF606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981514"/>
              </p:ext>
            </p:extLst>
          </p:nvPr>
        </p:nvGraphicFramePr>
        <p:xfrm>
          <a:off x="1598612" y="2362200"/>
          <a:ext cx="9296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54093188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42314692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Functionalities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828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Support Custom Options 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Allows dynamic creation of survey options during runtime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0382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Tracks Option Votes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Uses an array(votes) to store vote counts for each survey option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9429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castVotes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Maps a user’s vote to the correct option and updates the respective counter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57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displayResults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Display results for all custom options and total votes.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836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44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C9A3B-A889-4A21-9CF0-DEF00FC76AFC}"/>
              </a:ext>
            </a:extLst>
          </p:cNvPr>
          <p:cNvSpPr txBox="1"/>
          <p:nvPr/>
        </p:nvSpPr>
        <p:spPr>
          <a:xfrm>
            <a:off x="1598612" y="838200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Functionalities of  </a:t>
            </a:r>
            <a:r>
              <a:rPr lang="en-US" sz="3200" b="1" dirty="0" err="1">
                <a:latin typeface="+mj-lt"/>
              </a:rPr>
              <a:t>VoteThread</a:t>
            </a:r>
            <a:r>
              <a:rPr lang="en-US" sz="3200" b="1" dirty="0">
                <a:latin typeface="+mj-lt"/>
              </a:rPr>
              <a:t>: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84887E8-6057-424F-80E4-F89AF606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02368"/>
              </p:ext>
            </p:extLst>
          </p:nvPr>
        </p:nvGraphicFramePr>
        <p:xfrm>
          <a:off x="1674812" y="2057400"/>
          <a:ext cx="929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54093188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42314692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Functionalities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828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Thread Handling for Votes 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Handles voting operations in a separate thread for each vote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0382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Links to Voting System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Takes a “voting” object and a vote option as input for concurrent execution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9429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Implements “run()”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Calls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castVotes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 on the provided “Voting” object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84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C9A3B-A889-4A21-9CF0-DEF00FC76AFC}"/>
              </a:ext>
            </a:extLst>
          </p:cNvPr>
          <p:cNvSpPr txBox="1"/>
          <p:nvPr/>
        </p:nvSpPr>
        <p:spPr>
          <a:xfrm>
            <a:off x="1598612" y="609600"/>
            <a:ext cx="6934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Functionalities of  </a:t>
            </a:r>
            <a:r>
              <a:rPr lang="en-US" sz="3200" b="1" dirty="0" err="1">
                <a:latin typeface="+mj-lt"/>
              </a:rPr>
              <a:t>OnlineVotingSystem</a:t>
            </a:r>
            <a:r>
              <a:rPr lang="en-US" sz="3200" b="1" dirty="0">
                <a:latin typeface="+mj-lt"/>
              </a:rPr>
              <a:t> (Main Class):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84887E8-6057-424F-80E4-F89AF606B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50760"/>
              </p:ext>
            </p:extLst>
          </p:nvPr>
        </p:nvGraphicFramePr>
        <p:xfrm>
          <a:off x="1674812" y="1981200"/>
          <a:ext cx="929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54093188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423146923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Functionalities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8287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 Input Handling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Accepts user input to choose between polls and surveys or to stop the system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0382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Polls/Surveys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Instantiates “Polls” or “Surveys” based on user choice and questions/options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9429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Spawns Threads 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Creates and starts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VoteThread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” for each user vote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57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Displays Results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Call “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displayResults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()” on the “Voting” object after voting ends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97270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Handles Open-Ended Questions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Collects user responses for additional suggestions and saves them to file</a:t>
                      </a:r>
                    </a:p>
                  </a:txBody>
                  <a:tcP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10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1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4343399" cy="1371600"/>
          </a:xfrm>
        </p:spPr>
        <p:txBody>
          <a:bodyPr/>
          <a:lstStyle/>
          <a:p>
            <a:r>
              <a:rPr lang="en-US" dirty="0"/>
              <a:t>Explaining the intricacies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2760F-D983-49CA-BDDF-AB6E1E251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12" y="2057400"/>
            <a:ext cx="6705599" cy="3695700"/>
          </a:xfrm>
        </p:spPr>
      </p:pic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4793" y="381000"/>
            <a:ext cx="8955419" cy="961656"/>
          </a:xfrm>
        </p:spPr>
        <p:txBody>
          <a:bodyPr>
            <a:noAutofit/>
          </a:bodyPr>
          <a:lstStyle/>
          <a:p>
            <a:r>
              <a:rPr lang="en-US" sz="3300" b="1" dirty="0"/>
              <a:t>How the program conducts Polls and Surveys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060E3-6251-4ACE-87FC-EE0D8597F368}"/>
              </a:ext>
            </a:extLst>
          </p:cNvPr>
          <p:cNvSpPr txBox="1"/>
          <p:nvPr/>
        </p:nvSpPr>
        <p:spPr>
          <a:xfrm>
            <a:off x="1634793" y="3910054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Surveys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ACC22-7EEA-48D6-A96A-DDED711F9A78}"/>
              </a:ext>
            </a:extLst>
          </p:cNvPr>
          <p:cNvSpPr txBox="1"/>
          <p:nvPr/>
        </p:nvSpPr>
        <p:spPr>
          <a:xfrm>
            <a:off x="1558593" y="1971020"/>
            <a:ext cx="8839200" cy="1732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Users are prompted to vote on predefined options: a (Hard Agree), b (Agree), c (Disagree), or d (Hard Disagree)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Each vote is processed in a separate thread (</a:t>
            </a:r>
            <a:r>
              <a:rPr lang="en-US" dirty="0" err="1"/>
              <a:t>VoteThread</a:t>
            </a:r>
            <a:r>
              <a:rPr lang="en-US" dirty="0"/>
              <a:t>), updating counters for the chosen option.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Results are displayed with vote counts for each option and the total votes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F0BD3-2FCC-4361-A89A-C04F59043219}"/>
              </a:ext>
            </a:extLst>
          </p:cNvPr>
          <p:cNvSpPr txBox="1"/>
          <p:nvPr/>
        </p:nvSpPr>
        <p:spPr>
          <a:xfrm>
            <a:off x="1634793" y="14478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151AC-DBA3-4549-A622-92A13F09E241}"/>
              </a:ext>
            </a:extLst>
          </p:cNvPr>
          <p:cNvSpPr txBox="1"/>
          <p:nvPr/>
        </p:nvSpPr>
        <p:spPr>
          <a:xfrm>
            <a:off x="1558593" y="4478250"/>
            <a:ext cx="8839200" cy="1732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Users can define questions and create custom options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Votes for these options are tracked in an array, with each thread updating the respective counter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User can also answer open-ended questions, with their responses saved to a file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lang="en-US" dirty="0"/>
              <a:t>Results show votes for all options and total participation</a:t>
            </a:r>
          </a:p>
        </p:txBody>
      </p:sp>
    </p:spTree>
    <p:extLst>
      <p:ext uri="{BB962C8B-B14F-4D97-AF65-F5344CB8AC3E}">
        <p14:creationId xmlns:p14="http://schemas.microsoft.com/office/powerpoint/2010/main" val="355931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838200"/>
            <a:ext cx="8955419" cy="961656"/>
          </a:xfrm>
        </p:spPr>
        <p:txBody>
          <a:bodyPr>
            <a:noAutofit/>
          </a:bodyPr>
          <a:lstStyle/>
          <a:p>
            <a:r>
              <a:rPr lang="en-US" sz="3300" b="1" dirty="0"/>
              <a:t>Implementing Multi-threading for handling concurrent votes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ACC22-7EEA-48D6-A96A-DDED711F9A78}"/>
              </a:ext>
            </a:extLst>
          </p:cNvPr>
          <p:cNvSpPr txBox="1"/>
          <p:nvPr/>
        </p:nvSpPr>
        <p:spPr>
          <a:xfrm>
            <a:off x="1522412" y="2438400"/>
            <a:ext cx="883920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Each vote is processed in its own thread using the “</a:t>
            </a:r>
            <a:r>
              <a:rPr lang="en-US" dirty="0" err="1"/>
              <a:t>VoteThread</a:t>
            </a:r>
            <a:r>
              <a:rPr lang="en-US" dirty="0"/>
              <a:t>” class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Threads call the “</a:t>
            </a:r>
            <a:r>
              <a:rPr lang="en-US" dirty="0" err="1"/>
              <a:t>castVotes</a:t>
            </a:r>
            <a:r>
              <a:rPr lang="en-US" dirty="0"/>
              <a:t>()” method concurrently, allowing multiple users to vote simultaneously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Shared resources like vote counters and file writers are synchronized to prevent conflicts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“</a:t>
            </a:r>
            <a:r>
              <a:rPr lang="en-US" dirty="0" err="1"/>
              <a:t>SaveToFile</a:t>
            </a:r>
            <a:r>
              <a:rPr lang="en-US" dirty="0"/>
              <a:t>()” method ensures safe, non-overlapping files writes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After threads finish, the main thread compiles and displays results</a:t>
            </a:r>
          </a:p>
        </p:txBody>
      </p:sp>
    </p:spTree>
    <p:extLst>
      <p:ext uri="{BB962C8B-B14F-4D97-AF65-F5344CB8AC3E}">
        <p14:creationId xmlns:p14="http://schemas.microsoft.com/office/powerpoint/2010/main" val="285021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838200"/>
            <a:ext cx="8955419" cy="961656"/>
          </a:xfrm>
        </p:spPr>
        <p:txBody>
          <a:bodyPr>
            <a:noAutofit/>
          </a:bodyPr>
          <a:lstStyle/>
          <a:p>
            <a:r>
              <a:rPr lang="en-US" sz="3300" b="1" dirty="0"/>
              <a:t>How voting results are stored in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ACC22-7EEA-48D6-A96A-DDED711F9A78}"/>
              </a:ext>
            </a:extLst>
          </p:cNvPr>
          <p:cNvSpPr txBox="1"/>
          <p:nvPr/>
        </p:nvSpPr>
        <p:spPr>
          <a:xfrm>
            <a:off x="1522412" y="2438400"/>
            <a:ext cx="883920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The “</a:t>
            </a:r>
            <a:r>
              <a:rPr lang="en-US" dirty="0" err="1"/>
              <a:t>SaveToFile</a:t>
            </a:r>
            <a:r>
              <a:rPr lang="en-US" dirty="0"/>
              <a:t>()” method in the “voting” class append voting data to a file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It uses “</a:t>
            </a:r>
            <a:r>
              <a:rPr lang="en-US" dirty="0" err="1"/>
              <a:t>FileWriter</a:t>
            </a:r>
            <a:r>
              <a:rPr lang="en-US" dirty="0"/>
              <a:t>” with the “append” mode set to “True”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For polls, each vote is saved as a line in “pollresults.txt”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For surveys, custom vote options are saved in “surveyresults.txt”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User suggestions or answers are stored in “openEndedResponses.txt” </a:t>
            </a:r>
          </a:p>
        </p:txBody>
      </p:sp>
    </p:spTree>
    <p:extLst>
      <p:ext uri="{BB962C8B-B14F-4D97-AF65-F5344CB8AC3E}">
        <p14:creationId xmlns:p14="http://schemas.microsoft.com/office/powerpoint/2010/main" val="175299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4343399" cy="1371600"/>
          </a:xfrm>
        </p:spPr>
        <p:txBody>
          <a:bodyPr/>
          <a:lstStyle/>
          <a:p>
            <a:r>
              <a:rPr lang="en-US" dirty="0"/>
              <a:t>Summary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76204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838200"/>
            <a:ext cx="8955419" cy="961656"/>
          </a:xfrm>
        </p:spPr>
        <p:txBody>
          <a:bodyPr>
            <a:noAutofit/>
          </a:bodyPr>
          <a:lstStyle/>
          <a:p>
            <a:r>
              <a:rPr lang="en-US" sz="3300" b="1" dirty="0"/>
              <a:t>In a nutshell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ACC22-7EEA-48D6-A96A-DDED711F9A78}"/>
              </a:ext>
            </a:extLst>
          </p:cNvPr>
          <p:cNvSpPr txBox="1"/>
          <p:nvPr/>
        </p:nvSpPr>
        <p:spPr>
          <a:xfrm>
            <a:off x="1522412" y="2113536"/>
            <a:ext cx="883920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Placeholder Font"/>
              </a:rPr>
              <a:t>The Online Voting System successfully demonstrates how multithreading can be leveraged to handle concurrent voting efficiently. By ensuring thread safety and scalability, the system provides a robust platform for conducting polls and surveys in real time. Its ability to handle both fixed and customizable voting options, along with secure file storage, makes it a practical solution for modern voting needs. This project showcases a seamless integration of concurrency, synchronization, and user interaction, delivering a reliable and dynamic voting experience.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8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B1EDA4-2804-44CC-8948-66CDDCDD2EB0}"/>
              </a:ext>
            </a:extLst>
          </p:cNvPr>
          <p:cNvSpPr txBox="1"/>
          <p:nvPr/>
        </p:nvSpPr>
        <p:spPr>
          <a:xfrm>
            <a:off x="227012" y="2895600"/>
            <a:ext cx="1173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Thank you for watching our Presentation!</a:t>
            </a:r>
          </a:p>
        </p:txBody>
      </p:sp>
    </p:spTree>
    <p:extLst>
      <p:ext uri="{BB962C8B-B14F-4D97-AF65-F5344CB8AC3E}">
        <p14:creationId xmlns:p14="http://schemas.microsoft.com/office/powerpoint/2010/main" val="17492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2888</TotalTime>
  <Words>874</Words>
  <Application>Microsoft Office PowerPoint</Application>
  <PresentationFormat>Custom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Placeholder Font</vt:lpstr>
      <vt:lpstr>Digital Blue Tunnel 16x9</vt:lpstr>
      <vt:lpstr>Online Voting System</vt:lpstr>
      <vt:lpstr>Group Members</vt:lpstr>
      <vt:lpstr>Content Layout with List</vt:lpstr>
      <vt:lpstr>Introduction</vt:lpstr>
      <vt:lpstr>Online Voting System</vt:lpstr>
      <vt:lpstr>Functionality of Each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Technicalities</vt:lpstr>
      <vt:lpstr>UML Diagram</vt:lpstr>
      <vt:lpstr>How the program conducts Polls and Surveys</vt:lpstr>
      <vt:lpstr>Implementing Multi-threading for handling concurrent votes</vt:lpstr>
      <vt:lpstr>How voting results are stored in Files</vt:lpstr>
      <vt:lpstr>Conclusion</vt:lpstr>
      <vt:lpstr>In a nutshell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Voting System</dc:title>
  <dc:creator>Fardin Ahmed</dc:creator>
  <cp:lastModifiedBy>Fardin Ahmed</cp:lastModifiedBy>
  <cp:revision>8</cp:revision>
  <dcterms:created xsi:type="dcterms:W3CDTF">2024-11-25T08:37:25Z</dcterms:created>
  <dcterms:modified xsi:type="dcterms:W3CDTF">2024-11-27T08:45:35Z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